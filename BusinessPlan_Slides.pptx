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64592" y="91440"/>
            <a:ext cx="384048" cy="384048"/>
          </a:xfrm>
          <a:prstGeom prst="ellipse">
            <a:avLst/>
          </a:prstGeom>
          <a:solidFill>
            <a:srgbClr val="FFD700"/>
          </a:solidFill>
          <a:ln w="12700">
            <a:solidFill>
              <a:srgbClr val="FFD700"/>
            </a:solidFill>
            <a:prstDash val="solid"/>
          </a:ln>
        </p:spPr>
      </p:sp>
      <p:sp>
        <p:nvSpPr>
          <p:cNvPr id="3" name="Text 1"/>
          <p:cNvSpPr/>
          <p:nvPr/>
        </p:nvSpPr>
        <p:spPr>
          <a:xfrm>
            <a:off x="164592" y="82296"/>
            <a:ext cx="384048" cy="384048"/>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4" name="Text 2"/>
          <p:cNvSpPr/>
          <p:nvPr/>
        </p:nvSpPr>
        <p:spPr>
          <a:xfrm>
            <a:off x="658368" y="91440"/>
            <a:ext cx="8321040" cy="411480"/>
          </a:xfrm>
          <a:prstGeom prst="rect">
            <a:avLst/>
          </a:prstGeom>
          <a:noFill/>
          <a:ln/>
        </p:spPr>
        <p:txBody>
          <a:bodyPr wrap="square" lIns="0" tIns="0" rIns="0" bIns="0" rtlCol="0" anchor="ctr"/>
          <a:lstStyle/>
          <a:p>
            <a:pPr indent="0" marL="0">
              <a:buNone/>
            </a:pPr>
            <a:r>
              <a:rPr lang="en-US" sz="1900" i="1" dirty="0">
                <a:solidFill>
                  <a:srgbClr val="666666"/>
                </a:solidFill>
              </a:rPr>
              <a:t>Confidence-Aware Agentic Decision Layer</a:t>
            </a:r>
            <a:pPr indent="0" marL="0">
              <a:buNone/>
            </a:pPr>
            <a:r>
              <a:rPr lang="en-US" sz="1900" b="1" dirty="0">
                <a:solidFill>
                  <a:srgbClr val="0D2240"/>
                </a:solidFill>
              </a:rPr>
              <a:t>  |  Business Plan (1/2)</a:t>
            </a:r>
            <a:endParaRPr lang="en-US" sz="1900" dirty="0"/>
          </a:p>
        </p:txBody>
      </p:sp>
      <p:sp>
        <p:nvSpPr>
          <p:cNvPr id="5" name="Shape 3"/>
          <p:cNvSpPr/>
          <p:nvPr/>
        </p:nvSpPr>
        <p:spPr>
          <a:xfrm>
            <a:off x="0" y="576072"/>
            <a:ext cx="9144000" cy="18288"/>
          </a:xfrm>
          <a:prstGeom prst="rect">
            <a:avLst/>
          </a:prstGeom>
          <a:solidFill>
            <a:srgbClr val="CCCCCC"/>
          </a:solidFill>
          <a:ln w="12700">
            <a:solidFill>
              <a:srgbClr val="CCCCCC"/>
            </a:solidFill>
            <a:prstDash val="solid"/>
          </a:ln>
        </p:spPr>
      </p:sp>
      <p:sp>
        <p:nvSpPr>
          <p:cNvPr id="6" name="Shape 4"/>
          <p:cNvSpPr/>
          <p:nvPr/>
        </p:nvSpPr>
        <p:spPr>
          <a:xfrm>
            <a:off x="201168" y="685800"/>
            <a:ext cx="8741664" cy="4160520"/>
          </a:xfrm>
          <a:prstGeom prst="rect">
            <a:avLst/>
          </a:prstGeom>
          <a:solidFill>
            <a:srgbClr val="F0F0F0"/>
          </a:solidFill>
          <a:ln w="12700">
            <a:solidFill>
              <a:srgbClr val="F0F0F0"/>
            </a:solidFill>
            <a:prstDash val="solid"/>
          </a:ln>
        </p:spPr>
      </p:sp>
      <p:sp>
        <p:nvSpPr>
          <p:cNvPr id="7" name="Shape 5"/>
          <p:cNvSpPr/>
          <p:nvPr/>
        </p:nvSpPr>
        <p:spPr>
          <a:xfrm>
            <a:off x="320040" y="804672"/>
            <a:ext cx="1280160" cy="411480"/>
          </a:xfrm>
          <a:prstGeom prst="rect">
            <a:avLst/>
          </a:prstGeom>
          <a:solidFill>
            <a:srgbClr val="0D2240"/>
          </a:solidFill>
          <a:ln w="12700">
            <a:solidFill>
              <a:srgbClr val="0D2240"/>
            </a:solidFill>
            <a:prstDash val="solid"/>
          </a:ln>
        </p:spPr>
      </p:sp>
      <p:sp>
        <p:nvSpPr>
          <p:cNvPr id="8" name="Text 6"/>
          <p:cNvSpPr/>
          <p:nvPr/>
        </p:nvSpPr>
        <p:spPr>
          <a:xfrm>
            <a:off x="320040" y="804672"/>
            <a:ext cx="1280160" cy="411480"/>
          </a:xfrm>
          <a:prstGeom prst="rect">
            <a:avLst/>
          </a:prstGeom>
          <a:noFill/>
          <a:ln/>
        </p:spPr>
        <p:txBody>
          <a:bodyPr wrap="square" lIns="0" tIns="0" rIns="0" bIns="0" rtlCol="0" anchor="ctr"/>
          <a:lstStyle/>
          <a:p>
            <a:pPr algn="ctr" indent="0" marL="0">
              <a:buNone/>
            </a:pPr>
            <a:r>
              <a:rPr lang="en-US" sz="1600" b="1" dirty="0">
                <a:solidFill>
                  <a:srgbClr val="FFFFFF"/>
                </a:solidFill>
              </a:rPr>
              <a:t>WHY</a:t>
            </a:r>
            <a:endParaRPr lang="en-US" sz="1600" dirty="0"/>
          </a:p>
        </p:txBody>
      </p:sp>
      <p:sp>
        <p:nvSpPr>
          <p:cNvPr id="9" name="Text 7"/>
          <p:cNvSpPr/>
          <p:nvPr/>
        </p:nvSpPr>
        <p:spPr>
          <a:xfrm>
            <a:off x="256032" y="1243584"/>
            <a:ext cx="1417320" cy="274320"/>
          </a:xfrm>
          <a:prstGeom prst="rect">
            <a:avLst/>
          </a:prstGeom>
          <a:noFill/>
          <a:ln/>
        </p:spPr>
        <p:txBody>
          <a:bodyPr wrap="square" lIns="0" tIns="0" rIns="0" bIns="0" rtlCol="0" anchor="ctr"/>
          <a:lstStyle/>
          <a:p>
            <a:pPr algn="ctr" indent="0" marL="0">
              <a:buNone/>
            </a:pPr>
            <a:r>
              <a:rPr lang="en-US" sz="850" i="1" dirty="0">
                <a:solidFill>
                  <a:srgbClr val="0D2240"/>
                </a:solidFill>
              </a:rPr>
              <a:t>Explain the Problem</a:t>
            </a:r>
            <a:endParaRPr lang="en-US" sz="850" dirty="0"/>
          </a:p>
        </p:txBody>
      </p:sp>
      <p:sp>
        <p:nvSpPr>
          <p:cNvPr id="10" name="Shape 8"/>
          <p:cNvSpPr/>
          <p:nvPr/>
        </p:nvSpPr>
        <p:spPr>
          <a:xfrm>
            <a:off x="1783080" y="777240"/>
            <a:ext cx="7040880" cy="1005840"/>
          </a:xfrm>
          <a:prstGeom prst="rect">
            <a:avLst/>
          </a:prstGeom>
          <a:solidFill>
            <a:srgbClr val="E8E8E8"/>
          </a:solidFill>
          <a:ln w="12700">
            <a:solidFill>
              <a:srgbClr val="E8E8E8"/>
            </a:solidFill>
            <a:prstDash val="solid"/>
          </a:ln>
        </p:spPr>
      </p:sp>
      <p:sp>
        <p:nvSpPr>
          <p:cNvPr id="11" name="Text 9"/>
          <p:cNvSpPr/>
          <p:nvPr/>
        </p:nvSpPr>
        <p:spPr>
          <a:xfrm>
            <a:off x="1819656" y="804672"/>
            <a:ext cx="6967728" cy="950976"/>
          </a:xfrm>
          <a:prstGeom prst="rect">
            <a:avLst/>
          </a:prstGeom>
          <a:noFill/>
          <a:ln/>
        </p:spPr>
        <p:txBody>
          <a:bodyPr wrap="square" lIns="50800" tIns="50800" rIns="50800" bIns="50800" rtlCol="0" anchor="t"/>
          <a:lstStyle/>
          <a:p>
            <a:pPr indent="0" marL="0">
              <a:buNone/>
            </a:pPr>
            <a:r>
              <a:rPr lang="en-US" sz="900" b="1" dirty="0">
                <a:solidFill>
                  <a:srgbClr val="1A1A2E"/>
                </a:solidFill>
              </a:rPr>
              <a:t>Problem Description &amp; Business Scenario: </a:t>
            </a:r>
            <a:pPr indent="0" marL="0">
              <a:buNone/>
            </a:pPr>
            <a:r>
              <a:rPr lang="en-US" sz="900" dirty="0">
                <a:solidFill>
                  <a:srgbClr val="1A1A2E"/>
                </a:solidFill>
              </a:rPr>
              <a:t>Manufacturing systems generate massive real-time sensor data yet suffer from delayed decision-making and reactive responses. A single CNC machine failure costs up to $100K/hour in downtime.
</a:t>
            </a:r>
            <a:endParaRPr lang="en-US" sz="900" dirty="0"/>
          </a:p>
          <a:p>
            <a:pPr indent="0" marL="0">
              <a:buNone/>
            </a:pPr>
            <a:r>
              <a:rPr lang="en-US" sz="900" b="1" dirty="0">
                <a:solidFill>
                  <a:srgbClr val="1A1A2E"/>
                </a:solidFill>
              </a:rPr>
              <a:t>Problem Scope: </a:t>
            </a:r>
            <a:pPr indent="0" marL="0">
              <a:buNone/>
            </a:pPr>
            <a:r>
              <a:rPr lang="en-US" sz="900" dirty="0">
                <a:solidFill>
                  <a:srgbClr val="1A1A2E"/>
                </a:solidFill>
              </a:rPr>
              <a:t>Automotive, electronics, pharma industries; IoT-enabled smart factories — CNC machines, robots, energy &amp; production lines.
</a:t>
            </a:r>
            <a:endParaRPr lang="en-US" sz="900" dirty="0"/>
          </a:p>
          <a:p>
            <a:pPr indent="0" marL="0">
              <a:buNone/>
            </a:pPr>
            <a:r>
              <a:rPr lang="en-US" sz="900" b="1" dirty="0">
                <a:solidFill>
                  <a:srgbClr val="1A1A2E"/>
                </a:solidFill>
              </a:rPr>
              <a:t>Target Users/Stakeholders: </a:t>
            </a:r>
            <a:pPr indent="0" marL="0">
              <a:buNone/>
            </a:pPr>
            <a:r>
              <a:rPr lang="en-US" sz="900" dirty="0">
                <a:solidFill>
                  <a:srgbClr val="1A1A2E"/>
                </a:solidFill>
              </a:rPr>
              <a:t>Factory Operators, Plant Managers, Industrial Engineers, Automation Companies, Industry 4.0 Enterprises.</a:t>
            </a:r>
            <a:endParaRPr lang="en-US" sz="900" dirty="0"/>
          </a:p>
        </p:txBody>
      </p:sp>
      <p:sp>
        <p:nvSpPr>
          <p:cNvPr id="12" name="Shape 10"/>
          <p:cNvSpPr/>
          <p:nvPr/>
        </p:nvSpPr>
        <p:spPr>
          <a:xfrm>
            <a:off x="320040" y="1920240"/>
            <a:ext cx="7040880" cy="1417320"/>
          </a:xfrm>
          <a:prstGeom prst="rect">
            <a:avLst/>
          </a:prstGeom>
          <a:solidFill>
            <a:srgbClr val="E8E8E8"/>
          </a:solidFill>
          <a:ln w="12700">
            <a:solidFill>
              <a:srgbClr val="E8E8E8"/>
            </a:solidFill>
            <a:prstDash val="solid"/>
          </a:ln>
        </p:spPr>
      </p:sp>
      <p:sp>
        <p:nvSpPr>
          <p:cNvPr id="13" name="Text 11"/>
          <p:cNvSpPr/>
          <p:nvPr/>
        </p:nvSpPr>
        <p:spPr>
          <a:xfrm>
            <a:off x="356616" y="1929384"/>
            <a:ext cx="6967728" cy="1389888"/>
          </a:xfrm>
          <a:prstGeom prst="rect">
            <a:avLst/>
          </a:prstGeom>
          <a:noFill/>
          <a:ln/>
        </p:spPr>
        <p:txBody>
          <a:bodyPr wrap="square" lIns="50800" tIns="50800" rIns="50800" bIns="50800" rtlCol="0" anchor="t"/>
          <a:lstStyle/>
          <a:p>
            <a:pPr indent="0" marL="0">
              <a:buNone/>
            </a:pPr>
            <a:r>
              <a:rPr lang="en-US" sz="900" b="1" dirty="0">
                <a:solidFill>
                  <a:srgbClr val="1A1A2E"/>
                </a:solidFill>
              </a:rPr>
              <a:t>Solution Overview: </a:t>
            </a:r>
            <a:pPr indent="0" marL="0">
              <a:buNone/>
            </a:pPr>
            <a:r>
              <a:rPr lang="en-US" sz="900" dirty="0">
                <a:solidFill>
                  <a:srgbClr val="1A1A2E"/>
                </a:solidFill>
              </a:rPr>
              <a:t>Confidence-Aware Agentic Decision Layer for Digital Twins — monitors machine state, predicts failures (ML), decides actions (RL agent), explains reasoning (LLM), and governs via a Confidence Engine.
</a:t>
            </a:r>
            <a:endParaRPr lang="en-US" sz="900" dirty="0"/>
          </a:p>
          <a:p>
            <a:pPr indent="0" marL="0">
              <a:buNone/>
            </a:pPr>
            <a:r>
              <a:rPr lang="en-US" sz="900" b="1" dirty="0">
                <a:solidFill>
                  <a:srgbClr val="1A1A2E"/>
                </a:solidFill>
              </a:rPr>
              <a:t>Technical Details: </a:t>
            </a:r>
            <a:pPr indent="0" marL="0">
              <a:buNone/>
            </a:pPr>
            <a:r>
              <a:rPr lang="en-US" sz="900" dirty="0">
                <a:solidFill>
                  <a:srgbClr val="1A1A2E"/>
                </a:solidFill>
              </a:rPr>
              <a:t>Sensor Simulation → Backend API → ML Prediction → RL Decision Agent → LLM Explanation → Confidence Engine → Action Layer → Feedback Loop. Python-based simulation (temperature, vibration, speed — pattern-based, realistic).
</a:t>
            </a:r>
            <a:endParaRPr lang="en-US" sz="900" dirty="0"/>
          </a:p>
          <a:p>
            <a:pPr indent="0" marL="0">
              <a:buNone/>
            </a:pPr>
            <a:r>
              <a:rPr lang="en-US" sz="900" b="1" dirty="0">
                <a:solidFill>
                  <a:srgbClr val="1A1A2E"/>
                </a:solidFill>
              </a:rPr>
              <a:t>Innovation: </a:t>
            </a:r>
            <a:pPr indent="0" marL="0">
              <a:buNone/>
            </a:pPr>
            <a:r>
              <a:rPr lang="en-US" sz="900" dirty="0">
                <a:solidFill>
                  <a:srgbClr val="1A1A2E"/>
                </a:solidFill>
              </a:rPr>
              <a:t>System-Level Decision Confidence Engine with explicit confidence scoring, confidence-based autonomy, and human-AI collaboration — unlike existing tools that only predict, this system governs decisions.
</a:t>
            </a:r>
            <a:endParaRPr lang="en-US" sz="900" dirty="0"/>
          </a:p>
          <a:p>
            <a:pPr indent="0" marL="0">
              <a:buNone/>
            </a:pPr>
            <a:r>
              <a:rPr lang="en-US" sz="900" b="1" dirty="0">
                <a:solidFill>
                  <a:srgbClr val="1A1A2E"/>
                </a:solidFill>
              </a:rPr>
              <a:t>Market Potential: </a:t>
            </a:r>
            <a:pPr indent="0" marL="0">
              <a:buNone/>
            </a:pPr>
            <a:r>
              <a:rPr lang="en-US" sz="900" dirty="0">
                <a:solidFill>
                  <a:srgbClr val="1A1A2E"/>
                </a:solidFill>
              </a:rPr>
              <a:t>Smart Manufacturing $300B+; Predictive Maintenance $20B+. Technologies (RL, LLM, Digital Twins, ML) are purpose-built for real-time adaptive industrial control.</a:t>
            </a:r>
            <a:endParaRPr lang="en-US" sz="900" dirty="0"/>
          </a:p>
        </p:txBody>
      </p:sp>
      <p:sp>
        <p:nvSpPr>
          <p:cNvPr id="14" name="Shape 12"/>
          <p:cNvSpPr/>
          <p:nvPr/>
        </p:nvSpPr>
        <p:spPr>
          <a:xfrm>
            <a:off x="7525512" y="2176272"/>
            <a:ext cx="1280160" cy="411480"/>
          </a:xfrm>
          <a:prstGeom prst="rect">
            <a:avLst/>
          </a:prstGeom>
          <a:solidFill>
            <a:srgbClr val="0D2240"/>
          </a:solidFill>
          <a:ln w="12700">
            <a:solidFill>
              <a:srgbClr val="0D2240"/>
            </a:solidFill>
            <a:prstDash val="solid"/>
          </a:ln>
        </p:spPr>
      </p:sp>
      <p:sp>
        <p:nvSpPr>
          <p:cNvPr id="15" name="Text 13"/>
          <p:cNvSpPr/>
          <p:nvPr/>
        </p:nvSpPr>
        <p:spPr>
          <a:xfrm>
            <a:off x="7525512" y="2176272"/>
            <a:ext cx="1280160" cy="411480"/>
          </a:xfrm>
          <a:prstGeom prst="rect">
            <a:avLst/>
          </a:prstGeom>
          <a:noFill/>
          <a:ln/>
        </p:spPr>
        <p:txBody>
          <a:bodyPr wrap="square" lIns="0" tIns="0" rIns="0" bIns="0" rtlCol="0" anchor="ctr"/>
          <a:lstStyle/>
          <a:p>
            <a:pPr algn="ctr" indent="0" marL="0">
              <a:buNone/>
            </a:pPr>
            <a:r>
              <a:rPr lang="en-US" sz="1600" b="1" dirty="0">
                <a:solidFill>
                  <a:srgbClr val="FFFFFF"/>
                </a:solidFill>
              </a:rPr>
              <a:t>How</a:t>
            </a:r>
            <a:endParaRPr lang="en-US" sz="1600" dirty="0"/>
          </a:p>
        </p:txBody>
      </p:sp>
      <p:sp>
        <p:nvSpPr>
          <p:cNvPr id="16" name="Text 14"/>
          <p:cNvSpPr/>
          <p:nvPr/>
        </p:nvSpPr>
        <p:spPr>
          <a:xfrm>
            <a:off x="7315200" y="2615184"/>
            <a:ext cx="1645920" cy="274320"/>
          </a:xfrm>
          <a:prstGeom prst="rect">
            <a:avLst/>
          </a:prstGeom>
          <a:noFill/>
          <a:ln/>
        </p:spPr>
        <p:txBody>
          <a:bodyPr wrap="square" lIns="0" tIns="0" rIns="0" bIns="0" rtlCol="0" anchor="ctr"/>
          <a:lstStyle/>
          <a:p>
            <a:pPr algn="ctr" indent="0" marL="0">
              <a:buNone/>
            </a:pPr>
            <a:r>
              <a:rPr lang="en-US" sz="850" i="1" dirty="0">
                <a:solidFill>
                  <a:srgbClr val="0D2240"/>
                </a:solidFill>
              </a:rPr>
              <a:t>Explain the Solve</a:t>
            </a:r>
            <a:endParaRPr lang="en-US" sz="850" dirty="0"/>
          </a:p>
        </p:txBody>
      </p:sp>
      <p:sp>
        <p:nvSpPr>
          <p:cNvPr id="17" name="Shape 15"/>
          <p:cNvSpPr/>
          <p:nvPr/>
        </p:nvSpPr>
        <p:spPr>
          <a:xfrm>
            <a:off x="320040" y="3474720"/>
            <a:ext cx="1280160" cy="411480"/>
          </a:xfrm>
          <a:prstGeom prst="rect">
            <a:avLst/>
          </a:prstGeom>
          <a:solidFill>
            <a:srgbClr val="0D2240"/>
          </a:solidFill>
          <a:ln w="12700">
            <a:solidFill>
              <a:srgbClr val="0D2240"/>
            </a:solidFill>
            <a:prstDash val="solid"/>
          </a:ln>
        </p:spPr>
      </p:sp>
      <p:sp>
        <p:nvSpPr>
          <p:cNvPr id="18" name="Text 16"/>
          <p:cNvSpPr/>
          <p:nvPr/>
        </p:nvSpPr>
        <p:spPr>
          <a:xfrm>
            <a:off x="320040" y="3474720"/>
            <a:ext cx="1280160" cy="411480"/>
          </a:xfrm>
          <a:prstGeom prst="rect">
            <a:avLst/>
          </a:prstGeom>
          <a:noFill/>
          <a:ln/>
        </p:spPr>
        <p:txBody>
          <a:bodyPr wrap="square" lIns="0" tIns="0" rIns="0" bIns="0" rtlCol="0" anchor="ctr"/>
          <a:lstStyle/>
          <a:p>
            <a:pPr algn="ctr" indent="0" marL="0">
              <a:buNone/>
            </a:pPr>
            <a:r>
              <a:rPr lang="en-US" sz="1400" b="1" dirty="0">
                <a:solidFill>
                  <a:srgbClr val="FFFFFF"/>
                </a:solidFill>
              </a:rPr>
              <a:t>WHAT</a:t>
            </a:r>
            <a:endParaRPr lang="en-US" sz="1400" dirty="0"/>
          </a:p>
        </p:txBody>
      </p:sp>
      <p:sp>
        <p:nvSpPr>
          <p:cNvPr id="19" name="Text 17"/>
          <p:cNvSpPr/>
          <p:nvPr/>
        </p:nvSpPr>
        <p:spPr>
          <a:xfrm>
            <a:off x="256032" y="3913632"/>
            <a:ext cx="1417320" cy="274320"/>
          </a:xfrm>
          <a:prstGeom prst="rect">
            <a:avLst/>
          </a:prstGeom>
          <a:noFill/>
          <a:ln/>
        </p:spPr>
        <p:txBody>
          <a:bodyPr wrap="square" lIns="0" tIns="0" rIns="0" bIns="0" rtlCol="0" anchor="ctr"/>
          <a:lstStyle/>
          <a:p>
            <a:pPr algn="ctr" indent="0" marL="0">
              <a:buNone/>
            </a:pPr>
            <a:r>
              <a:rPr lang="en-US" sz="850" i="1" dirty="0">
                <a:solidFill>
                  <a:srgbClr val="0D2240"/>
                </a:solidFill>
              </a:rPr>
              <a:t>Value proposition</a:t>
            </a:r>
            <a:endParaRPr lang="en-US" sz="850" dirty="0"/>
          </a:p>
        </p:txBody>
      </p:sp>
      <p:sp>
        <p:nvSpPr>
          <p:cNvPr id="20" name="Shape 18"/>
          <p:cNvSpPr/>
          <p:nvPr/>
        </p:nvSpPr>
        <p:spPr>
          <a:xfrm>
            <a:off x="1783080" y="3447288"/>
            <a:ext cx="7040880" cy="1005840"/>
          </a:xfrm>
          <a:prstGeom prst="rect">
            <a:avLst/>
          </a:prstGeom>
          <a:solidFill>
            <a:srgbClr val="E8E8E8"/>
          </a:solidFill>
          <a:ln w="12700">
            <a:solidFill>
              <a:srgbClr val="E8E8E8"/>
            </a:solidFill>
            <a:prstDash val="solid"/>
          </a:ln>
        </p:spPr>
      </p:sp>
      <p:sp>
        <p:nvSpPr>
          <p:cNvPr id="21" name="Text 19"/>
          <p:cNvSpPr/>
          <p:nvPr/>
        </p:nvSpPr>
        <p:spPr>
          <a:xfrm>
            <a:off x="1819656" y="3474720"/>
            <a:ext cx="6967728" cy="950976"/>
          </a:xfrm>
          <a:prstGeom prst="rect">
            <a:avLst/>
          </a:prstGeom>
          <a:noFill/>
          <a:ln/>
        </p:spPr>
        <p:txBody>
          <a:bodyPr wrap="square" lIns="50800" tIns="50800" rIns="50800" bIns="50800" rtlCol="0" anchor="t"/>
          <a:lstStyle/>
          <a:p>
            <a:pPr indent="0" marL="0">
              <a:buNone/>
            </a:pPr>
            <a:r>
              <a:rPr lang="en-US" sz="900" b="1" dirty="0">
                <a:solidFill>
                  <a:srgbClr val="1A1A2E"/>
                </a:solidFill>
              </a:rPr>
              <a:t>Primary benefits: </a:t>
            </a:r>
            <a:pPr indent="0" marL="0">
              <a:buNone/>
            </a:pPr>
            <a:r>
              <a:rPr lang="en-US" sz="900" dirty="0">
                <a:solidFill>
                  <a:srgbClr val="1A1A2E"/>
                </a:solidFill>
              </a:rPr>
              <a:t>Real-time autonomous decisions, reduced manual intervention.  </a:t>
            </a:r>
            <a:pPr indent="0" marL="0">
              <a:buNone/>
            </a:pPr>
            <a:r>
              <a:rPr lang="en-US" sz="900" b="1" dirty="0">
                <a:solidFill>
                  <a:srgbClr val="1A1A2E"/>
                </a:solidFill>
              </a:rPr>
              <a:t>Efficiency &amp; Flexibility: </a:t>
            </a:r>
            <a:pPr indent="0" marL="0">
              <a:buNone/>
            </a:pPr>
            <a:r>
              <a:rPr lang="en-US" sz="900" dirty="0">
                <a:solidFill>
                  <a:srgbClr val="1A1A2E"/>
                </a:solidFill>
              </a:rPr>
              <a:t>15–25% efficiency increase, adaptive behavior.  </a:t>
            </a:r>
            <a:pPr indent="0" marL="0">
              <a:buNone/>
            </a:pPr>
            <a:r>
              <a:rPr lang="en-US" sz="900" b="1" dirty="0">
                <a:solidFill>
                  <a:srgbClr val="1A1A2E"/>
                </a:solidFill>
              </a:rPr>
              <a:t>Time &amp; Cost Saving: </a:t>
            </a:r>
            <a:pPr indent="0" marL="0">
              <a:buNone/>
            </a:pPr>
            <a:r>
              <a:rPr lang="en-US" sz="900" dirty="0">
                <a:solidFill>
                  <a:srgbClr val="1A1A2E"/>
                </a:solidFill>
              </a:rPr>
              <a:t>10–20% downtime reduction, 10–15% energy savings, prevents unexpected failures.  </a:t>
            </a:r>
            <a:pPr indent="0" marL="0">
              <a:buNone/>
            </a:pPr>
            <a:r>
              <a:rPr lang="en-US" sz="900" b="1" dirty="0">
                <a:solidFill>
                  <a:srgbClr val="1A1A2E"/>
                </a:solidFill>
              </a:rPr>
              <a:t>Scalability: </a:t>
            </a:r>
            <a:pPr indent="0" marL="0">
              <a:buNone/>
            </a:pPr>
            <a:r>
              <a:rPr lang="en-US" sz="900" dirty="0">
                <a:solidFill>
                  <a:srgbClr val="1A1A2E"/>
                </a:solidFill>
              </a:rPr>
              <a:t>Single machine → entire factory, cross-industry applicable.  </a:t>
            </a:r>
            <a:pPr indent="0" marL="0">
              <a:buNone/>
            </a:pPr>
            <a:r>
              <a:rPr lang="en-US" sz="900" b="1" dirty="0">
                <a:solidFill>
                  <a:srgbClr val="1A1A2E"/>
                </a:solidFill>
              </a:rPr>
              <a:t>Social Impact: </a:t>
            </a:r>
            <a:pPr indent="0" marL="0">
              <a:buNone/>
            </a:pPr>
            <a:r>
              <a:rPr lang="en-US" sz="900" dirty="0">
                <a:solidFill>
                  <a:srgbClr val="1A1A2E"/>
                </a:solidFill>
              </a:rPr>
              <a:t>Safer workplaces, reduced energy consumption, improved sustainability.</a:t>
            </a:r>
            <a:endParaRPr lang="en-US" sz="900" dirty="0"/>
          </a:p>
        </p:txBody>
      </p:sp>
      <p:sp>
        <p:nvSpPr>
          <p:cNvPr id="22" name="Text 20"/>
          <p:cNvSpPr/>
          <p:nvPr/>
        </p:nvSpPr>
        <p:spPr>
          <a:xfrm>
            <a:off x="91440" y="4974336"/>
            <a:ext cx="274320" cy="146304"/>
          </a:xfrm>
          <a:prstGeom prst="rect">
            <a:avLst/>
          </a:prstGeom>
          <a:noFill/>
          <a:ln/>
        </p:spPr>
        <p:txBody>
          <a:bodyPr wrap="square" rtlCol="0" anchor="ctr"/>
          <a:lstStyle/>
          <a:p>
            <a:pPr indent="0" marL="0">
              <a:buNone/>
            </a:pPr>
            <a:r>
              <a:rPr lang="en-US" sz="800" dirty="0">
                <a:solidFill>
                  <a:srgbClr val="888888"/>
                </a:solidFill>
              </a:rPr>
              <a:t>7</a:t>
            </a:r>
            <a:endParaRPr lang="en-US" sz="800" dirty="0"/>
          </a:p>
        </p:txBody>
      </p:sp>
      <p:sp>
        <p:nvSpPr>
          <p:cNvPr id="23" name="Text 21"/>
          <p:cNvSpPr/>
          <p:nvPr/>
        </p:nvSpPr>
        <p:spPr>
          <a:xfrm>
            <a:off x="2286000" y="4974336"/>
            <a:ext cx="4572000" cy="146304"/>
          </a:xfrm>
          <a:prstGeom prst="rect">
            <a:avLst/>
          </a:prstGeom>
          <a:noFill/>
          <a:ln/>
        </p:spPr>
        <p:txBody>
          <a:bodyPr wrap="square" rtlCol="0" anchor="ctr"/>
          <a:lstStyle/>
          <a:p>
            <a:pPr algn="ctr" indent="0" marL="0">
              <a:buNone/>
            </a:pPr>
            <a:r>
              <a:rPr lang="en-US" sz="800" dirty="0">
                <a:solidFill>
                  <a:srgbClr val="888888"/>
                </a:solidFill>
              </a:rPr>
              <a:t>© 2026–2027 Cognizant | Private</a:t>
            </a:r>
            <a:endParaRPr lang="en-US" sz="800" dirty="0"/>
          </a:p>
        </p:txBody>
      </p:sp>
      <p:sp>
        <p:nvSpPr>
          <p:cNvPr id="24" name="Shape 22"/>
          <p:cNvSpPr/>
          <p:nvPr/>
        </p:nvSpPr>
        <p:spPr>
          <a:xfrm>
            <a:off x="7726680" y="4910328"/>
            <a:ext cx="1325880" cy="228600"/>
          </a:xfrm>
          <a:prstGeom prst="rect">
            <a:avLst/>
          </a:prstGeom>
          <a:solidFill>
            <a:srgbClr val="0066CC"/>
          </a:solidFill>
          <a:ln w="12700">
            <a:solidFill>
              <a:srgbClr val="0066CC"/>
            </a:solidFill>
            <a:prstDash val="solid"/>
          </a:ln>
        </p:spPr>
      </p:sp>
      <p:sp>
        <p:nvSpPr>
          <p:cNvPr id="25" name="Text 23"/>
          <p:cNvSpPr/>
          <p:nvPr/>
        </p:nvSpPr>
        <p:spPr>
          <a:xfrm>
            <a:off x="7726680" y="4910328"/>
            <a:ext cx="1325880" cy="228600"/>
          </a:xfrm>
          <a:prstGeom prst="rect">
            <a:avLst/>
          </a:prstGeom>
          <a:noFill/>
          <a:ln/>
        </p:spPr>
        <p:txBody>
          <a:bodyPr wrap="square" lIns="0" tIns="0" rIns="0" bIns="0" rtlCol="0" anchor="ctr"/>
          <a:lstStyle/>
          <a:p>
            <a:pPr algn="ctr" indent="0" marL="0">
              <a:buNone/>
            </a:pPr>
            <a:r>
              <a:rPr lang="en-US" sz="900" b="1" dirty="0">
                <a:solidFill>
                  <a:srgbClr val="FFFFFF"/>
                </a:solidFill>
              </a:rPr>
              <a:t>cognizant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160" y="91440"/>
            <a:ext cx="402336" cy="402336"/>
          </a:xfrm>
          <a:prstGeom prst="ellipse">
            <a:avLst/>
          </a:prstGeom>
          <a:solidFill>
            <a:srgbClr val="F0F0F0"/>
          </a:solidFill>
          <a:ln w="12700">
            <a:solidFill>
              <a:srgbClr val="CCCCCC"/>
            </a:solidFill>
            <a:prstDash val="solid"/>
          </a:ln>
        </p:spPr>
      </p:sp>
      <p:sp>
        <p:nvSpPr>
          <p:cNvPr id="3" name="Text 1"/>
          <p:cNvSpPr/>
          <p:nvPr/>
        </p:nvSpPr>
        <p:spPr>
          <a:xfrm>
            <a:off x="137160" y="82296"/>
            <a:ext cx="402336" cy="402336"/>
          </a:xfrm>
          <a:prstGeom prst="rect">
            <a:avLst/>
          </a:prstGeom>
          <a:noFill/>
          <a:ln/>
        </p:spPr>
        <p:txBody>
          <a:bodyPr wrap="square" rtlCol="0" anchor="ctr"/>
          <a:lstStyle/>
          <a:p>
            <a:pPr algn="ctr" indent="0" marL="0">
              <a:buNone/>
            </a:pPr>
            <a:r>
              <a:rPr lang="en-US" sz="1600" dirty="0">
                <a:solidFill>
                  <a:srgbClr val="000000"/>
                </a:solidFill>
              </a:rPr>
              <a:t>⚙️</a:t>
            </a:r>
            <a:endParaRPr lang="en-US" sz="1600" dirty="0"/>
          </a:p>
        </p:txBody>
      </p:sp>
      <p:sp>
        <p:nvSpPr>
          <p:cNvPr id="4" name="Text 2"/>
          <p:cNvSpPr/>
          <p:nvPr/>
        </p:nvSpPr>
        <p:spPr>
          <a:xfrm>
            <a:off x="658368" y="91440"/>
            <a:ext cx="8321040" cy="411480"/>
          </a:xfrm>
          <a:prstGeom prst="rect">
            <a:avLst/>
          </a:prstGeom>
          <a:noFill/>
          <a:ln/>
        </p:spPr>
        <p:txBody>
          <a:bodyPr wrap="square" lIns="0" tIns="0" rIns="0" bIns="0" rtlCol="0" anchor="ctr"/>
          <a:lstStyle/>
          <a:p>
            <a:pPr indent="0" marL="0">
              <a:buNone/>
            </a:pPr>
            <a:r>
              <a:rPr lang="en-US" sz="1900" b="1" dirty="0">
                <a:solidFill>
                  <a:srgbClr val="0D2240"/>
                </a:solidFill>
              </a:rPr>
              <a:t>Financials &amp; Timelines  |  Business Plan (2/2)</a:t>
            </a:r>
            <a:endParaRPr lang="en-US" sz="1900" dirty="0"/>
          </a:p>
        </p:txBody>
      </p:sp>
      <p:sp>
        <p:nvSpPr>
          <p:cNvPr id="5" name="Shape 3"/>
          <p:cNvSpPr/>
          <p:nvPr/>
        </p:nvSpPr>
        <p:spPr>
          <a:xfrm>
            <a:off x="0" y="576072"/>
            <a:ext cx="9144000" cy="18288"/>
          </a:xfrm>
          <a:prstGeom prst="rect">
            <a:avLst/>
          </a:prstGeom>
          <a:solidFill>
            <a:srgbClr val="CCCCCC"/>
          </a:solidFill>
          <a:ln w="12700">
            <a:solidFill>
              <a:srgbClr val="CCCCCC"/>
            </a:solidFill>
            <a:prstDash val="solid"/>
          </a:ln>
        </p:spPr>
      </p:sp>
      <p:sp>
        <p:nvSpPr>
          <p:cNvPr id="6" name="Shape 4"/>
          <p:cNvSpPr/>
          <p:nvPr/>
        </p:nvSpPr>
        <p:spPr>
          <a:xfrm>
            <a:off x="201168" y="685800"/>
            <a:ext cx="8741664" cy="4160520"/>
          </a:xfrm>
          <a:prstGeom prst="rect">
            <a:avLst/>
          </a:prstGeom>
          <a:solidFill>
            <a:srgbClr val="F0F0F0"/>
          </a:solidFill>
          <a:ln w="12700">
            <a:solidFill>
              <a:srgbClr val="F0F0F0"/>
            </a:solidFill>
            <a:prstDash val="solid"/>
          </a:ln>
        </p:spPr>
      </p:sp>
      <p:sp>
        <p:nvSpPr>
          <p:cNvPr id="7" name="Shape 5"/>
          <p:cNvSpPr/>
          <p:nvPr/>
        </p:nvSpPr>
        <p:spPr>
          <a:xfrm>
            <a:off x="320040" y="804672"/>
            <a:ext cx="1417320" cy="411480"/>
          </a:xfrm>
          <a:prstGeom prst="rect">
            <a:avLst/>
          </a:prstGeom>
          <a:solidFill>
            <a:srgbClr val="0D2240"/>
          </a:solidFill>
          <a:ln w="12700">
            <a:solidFill>
              <a:srgbClr val="0D2240"/>
            </a:solidFill>
            <a:prstDash val="solid"/>
          </a:ln>
        </p:spPr>
      </p:sp>
      <p:sp>
        <p:nvSpPr>
          <p:cNvPr id="8" name="Text 6"/>
          <p:cNvSpPr/>
          <p:nvPr/>
        </p:nvSpPr>
        <p:spPr>
          <a:xfrm>
            <a:off x="320040" y="804672"/>
            <a:ext cx="1417320" cy="411480"/>
          </a:xfrm>
          <a:prstGeom prst="rect">
            <a:avLst/>
          </a:prstGeom>
          <a:noFill/>
          <a:ln/>
        </p:spPr>
        <p:txBody>
          <a:bodyPr wrap="square" lIns="0" tIns="0" rIns="0" bIns="0" rtlCol="0" anchor="ctr"/>
          <a:lstStyle/>
          <a:p>
            <a:pPr algn="ctr" indent="0" marL="0">
              <a:buNone/>
            </a:pPr>
            <a:r>
              <a:rPr lang="en-US" sz="1300" b="1" dirty="0">
                <a:solidFill>
                  <a:srgbClr val="FFFFFF"/>
                </a:solidFill>
              </a:rPr>
              <a:t>Investments</a:t>
            </a:r>
            <a:endParaRPr lang="en-US" sz="1300" dirty="0"/>
          </a:p>
        </p:txBody>
      </p:sp>
      <p:sp>
        <p:nvSpPr>
          <p:cNvPr id="9" name="Text 7"/>
          <p:cNvSpPr/>
          <p:nvPr/>
        </p:nvSpPr>
        <p:spPr>
          <a:xfrm>
            <a:off x="246888" y="1243584"/>
            <a:ext cx="1572768" cy="502920"/>
          </a:xfrm>
          <a:prstGeom prst="rect">
            <a:avLst/>
          </a:prstGeom>
          <a:noFill/>
          <a:ln/>
        </p:spPr>
        <p:txBody>
          <a:bodyPr wrap="square" lIns="0" tIns="0" rIns="0" bIns="0" rtlCol="0" anchor="ctr"/>
          <a:lstStyle/>
          <a:p>
            <a:pPr algn="ctr" indent="0" marL="0">
              <a:buNone/>
            </a:pPr>
            <a:r>
              <a:rPr lang="en-US" sz="800" i="1" dirty="0">
                <a:solidFill>
                  <a:srgbClr val="0D2240"/>
                </a:solidFill>
              </a:rPr>
              <a:t>What does it take &amp;</a:t>
            </a:r>
            <a:endParaRPr lang="en-US" sz="800" dirty="0"/>
          </a:p>
          <a:p>
            <a:pPr algn="ctr" indent="0" marL="0">
              <a:buNone/>
            </a:pPr>
            <a:r>
              <a:rPr lang="en-US" sz="800" i="1" dirty="0">
                <a:solidFill>
                  <a:srgbClr val="0D2240"/>
                </a:solidFill>
              </a:rPr>
              <a:t>How much does it cost to solve?</a:t>
            </a:r>
            <a:endParaRPr lang="en-US" sz="800" dirty="0"/>
          </a:p>
        </p:txBody>
      </p:sp>
      <p:sp>
        <p:nvSpPr>
          <p:cNvPr id="10" name="Shape 8"/>
          <p:cNvSpPr/>
          <p:nvPr/>
        </p:nvSpPr>
        <p:spPr>
          <a:xfrm>
            <a:off x="1938528" y="777240"/>
            <a:ext cx="6885432" cy="1115568"/>
          </a:xfrm>
          <a:prstGeom prst="rect">
            <a:avLst/>
          </a:prstGeom>
          <a:solidFill>
            <a:srgbClr val="E8E8E8"/>
          </a:solidFill>
          <a:ln w="12700">
            <a:solidFill>
              <a:srgbClr val="E8E8E8"/>
            </a:solidFill>
            <a:prstDash val="solid"/>
          </a:ln>
        </p:spPr>
      </p:sp>
      <p:sp>
        <p:nvSpPr>
          <p:cNvPr id="11" name="Text 9"/>
          <p:cNvSpPr/>
          <p:nvPr/>
        </p:nvSpPr>
        <p:spPr>
          <a:xfrm>
            <a:off x="1975104" y="804672"/>
            <a:ext cx="6812280" cy="1060704"/>
          </a:xfrm>
          <a:prstGeom prst="rect">
            <a:avLst/>
          </a:prstGeom>
          <a:noFill/>
          <a:ln/>
        </p:spPr>
        <p:txBody>
          <a:bodyPr wrap="square" lIns="63500" tIns="63500" rIns="63500" bIns="63500" rtlCol="0" anchor="t"/>
          <a:lstStyle/>
          <a:p>
            <a:pPr indent="0" marL="0">
              <a:buNone/>
            </a:pPr>
            <a:r>
              <a:rPr lang="en-US" sz="950" b="1" dirty="0">
                <a:solidFill>
                  <a:srgbClr val="1A1A2E"/>
                </a:solidFill>
              </a:rPr>
              <a:t>What it takes: </a:t>
            </a:r>
            <a:pPr indent="0" marL="0">
              <a:buNone/>
            </a:pPr>
            <a:r>
              <a:rPr lang="en-US" sz="950" dirty="0">
                <a:solidFill>
                  <a:srgbClr val="1A1A2E"/>
                </a:solidFill>
              </a:rPr>
              <a:t>AI + frontend + backend development team, cloud infrastructure (AWS/Azure/GCP), IoT sensor integration (future scope), and data engineering pipelines.
</a:t>
            </a:r>
            <a:endParaRPr lang="en-US" sz="950" dirty="0"/>
          </a:p>
          <a:p>
            <a:pPr indent="0" marL="0">
              <a:buNone/>
            </a:pPr>
            <a:r>
              <a:rPr lang="en-US" sz="950" b="1" dirty="0">
                <a:solidFill>
                  <a:srgbClr val="1A1A2E"/>
                </a:solidFill>
              </a:rPr>
              <a:t>Estimated Cost — Hackathon MVP: </a:t>
            </a:r>
            <a:pPr indent="0" marL="0">
              <a:buNone/>
            </a:pPr>
            <a:r>
              <a:rPr lang="en-US" sz="950" dirty="0">
                <a:solidFill>
                  <a:srgbClr val="1A1A2E"/>
                </a:solidFill>
              </a:rPr>
              <a:t>Minimal (software-based, no hardware required).  </a:t>
            </a:r>
            <a:pPr indent="0" marL="0">
              <a:buNone/>
            </a:pPr>
            <a:r>
              <a:rPr lang="en-US" sz="950" b="1" dirty="0">
                <a:solidFill>
                  <a:srgbClr val="1A1A2E"/>
                </a:solidFill>
              </a:rPr>
              <a:t>Real-world Pilot: </a:t>
            </a:r>
            <a:pPr indent="0" marL="0">
              <a:buNone/>
            </a:pPr>
            <a:r>
              <a:rPr lang="en-US" sz="950" dirty="0">
                <a:solidFill>
                  <a:srgbClr val="1A1A2E"/>
                </a:solidFill>
              </a:rPr>
              <a:t>$50K–$200K (team + cloud + IoT integration).  </a:t>
            </a:r>
            <a:pPr indent="0" marL="0">
              <a:buNone/>
            </a:pPr>
            <a:r>
              <a:rPr lang="en-US" sz="950" b="1" dirty="0">
                <a:solidFill>
                  <a:srgbClr val="1A1A2E"/>
                </a:solidFill>
              </a:rPr>
              <a:t>Full-Scale Deployment: </a:t>
            </a:r>
            <a:pPr indent="0" marL="0">
              <a:buNone/>
            </a:pPr>
            <a:r>
              <a:rPr lang="en-US" sz="950" dirty="0">
                <a:solidFill>
                  <a:srgbClr val="1A1A2E"/>
                </a:solidFill>
              </a:rPr>
              <a:t>$200K–$500K depending on factory size, machine count, and integration complexity.</a:t>
            </a:r>
            <a:endParaRPr lang="en-US" sz="950" dirty="0"/>
          </a:p>
        </p:txBody>
      </p:sp>
      <p:sp>
        <p:nvSpPr>
          <p:cNvPr id="12" name="Shape 10"/>
          <p:cNvSpPr/>
          <p:nvPr/>
        </p:nvSpPr>
        <p:spPr>
          <a:xfrm>
            <a:off x="320040" y="2084832"/>
            <a:ext cx="6885432" cy="1261872"/>
          </a:xfrm>
          <a:prstGeom prst="rect">
            <a:avLst/>
          </a:prstGeom>
          <a:solidFill>
            <a:srgbClr val="E8E8E8"/>
          </a:solidFill>
          <a:ln w="12700">
            <a:solidFill>
              <a:srgbClr val="E8E8E8"/>
            </a:solidFill>
            <a:prstDash val="solid"/>
          </a:ln>
        </p:spPr>
      </p:sp>
      <p:sp>
        <p:nvSpPr>
          <p:cNvPr id="13" name="Text 11"/>
          <p:cNvSpPr/>
          <p:nvPr/>
        </p:nvSpPr>
        <p:spPr>
          <a:xfrm>
            <a:off x="356616" y="2112264"/>
            <a:ext cx="6812280" cy="1207008"/>
          </a:xfrm>
          <a:prstGeom prst="rect">
            <a:avLst/>
          </a:prstGeom>
          <a:noFill/>
          <a:ln/>
        </p:spPr>
        <p:txBody>
          <a:bodyPr wrap="square" lIns="63500" tIns="63500" rIns="63500" bIns="63500" rtlCol="0" anchor="t"/>
          <a:lstStyle/>
          <a:p>
            <a:pPr indent="0" marL="0">
              <a:buNone/>
            </a:pPr>
            <a:r>
              <a:rPr lang="en-US" sz="950" b="1" dirty="0">
                <a:solidFill>
                  <a:srgbClr val="1A1A2E"/>
                </a:solidFill>
              </a:rPr>
              <a:t>Quantified Benefits: </a:t>
            </a:r>
            <a:pPr indent="0" marL="0">
              <a:buNone/>
            </a:pPr>
            <a:r>
              <a:rPr lang="en-US" sz="950" dirty="0">
                <a:solidFill>
                  <a:srgbClr val="1A1A2E"/>
                </a:solidFill>
              </a:rPr>
              <a:t>Downtime reduction 10–20% | Energy savings 10–15% | Efficiency increase 15–25% | ROI achievable within months of full deployment | Prevents $100K/hour machine failure losses.
</a:t>
            </a:r>
            <a:endParaRPr lang="en-US" sz="950" dirty="0"/>
          </a:p>
          <a:p>
            <a:pPr indent="0" marL="0">
              <a:buNone/>
            </a:pPr>
            <a:r>
              <a:rPr lang="en-US" sz="950" b="1" dirty="0">
                <a:solidFill>
                  <a:srgbClr val="1A1A2E"/>
                </a:solidFill>
              </a:rPr>
              <a:t>If NOT solved: </a:t>
            </a:r>
            <a:pPr indent="0" marL="0">
              <a:buNone/>
            </a:pPr>
            <a:r>
              <a:rPr lang="en-US" sz="950" dirty="0">
                <a:solidFill>
                  <a:srgbClr val="1A1A2E"/>
                </a:solidFill>
              </a:rPr>
              <a:t>Continued production losses (up to $100K/hour per failure event), escalating unplanned maintenance costs, rising labor costs from manual monitoring, loss of Industry 4.0 competitive advantage, inefficient energy and resource usage, and heightened safety risks on the factory floor.</a:t>
            </a:r>
            <a:endParaRPr lang="en-US" sz="950" dirty="0"/>
          </a:p>
        </p:txBody>
      </p:sp>
      <p:sp>
        <p:nvSpPr>
          <p:cNvPr id="14" name="Shape 12"/>
          <p:cNvSpPr/>
          <p:nvPr/>
        </p:nvSpPr>
        <p:spPr>
          <a:xfrm>
            <a:off x="7406640" y="2423160"/>
            <a:ext cx="1417320" cy="411480"/>
          </a:xfrm>
          <a:prstGeom prst="rect">
            <a:avLst/>
          </a:prstGeom>
          <a:solidFill>
            <a:srgbClr val="0D2240"/>
          </a:solidFill>
          <a:ln w="12700">
            <a:solidFill>
              <a:srgbClr val="0D2240"/>
            </a:solidFill>
            <a:prstDash val="solid"/>
          </a:ln>
        </p:spPr>
      </p:sp>
      <p:sp>
        <p:nvSpPr>
          <p:cNvPr id="15" name="Text 13"/>
          <p:cNvSpPr/>
          <p:nvPr/>
        </p:nvSpPr>
        <p:spPr>
          <a:xfrm>
            <a:off x="7406640" y="2423160"/>
            <a:ext cx="1417320" cy="411480"/>
          </a:xfrm>
          <a:prstGeom prst="rect">
            <a:avLst/>
          </a:prstGeom>
          <a:noFill/>
          <a:ln/>
        </p:spPr>
        <p:txBody>
          <a:bodyPr wrap="square" lIns="0" tIns="0" rIns="0" bIns="0" rtlCol="0" anchor="ctr"/>
          <a:lstStyle/>
          <a:p>
            <a:pPr algn="ctr" indent="0" marL="0">
              <a:buNone/>
            </a:pPr>
            <a:r>
              <a:rPr lang="en-US" sz="1300" b="1" dirty="0">
                <a:solidFill>
                  <a:srgbClr val="FFFFFF"/>
                </a:solidFill>
              </a:rPr>
              <a:t>Returns</a:t>
            </a:r>
            <a:endParaRPr lang="en-US" sz="1300" dirty="0"/>
          </a:p>
        </p:txBody>
      </p:sp>
      <p:sp>
        <p:nvSpPr>
          <p:cNvPr id="16" name="Text 14"/>
          <p:cNvSpPr/>
          <p:nvPr/>
        </p:nvSpPr>
        <p:spPr>
          <a:xfrm>
            <a:off x="7296912" y="2862072"/>
            <a:ext cx="1645920" cy="411480"/>
          </a:xfrm>
          <a:prstGeom prst="rect">
            <a:avLst/>
          </a:prstGeom>
          <a:noFill/>
          <a:ln/>
        </p:spPr>
        <p:txBody>
          <a:bodyPr wrap="square" lIns="0" tIns="0" rIns="0" bIns="0" rtlCol="0" anchor="ctr"/>
          <a:lstStyle/>
          <a:p>
            <a:pPr algn="ctr" indent="0" marL="0">
              <a:buNone/>
            </a:pPr>
            <a:r>
              <a:rPr lang="en-US" sz="800" i="1" dirty="0">
                <a:solidFill>
                  <a:srgbClr val="0D2240"/>
                </a:solidFill>
              </a:rPr>
              <a:t>Quantify the benefits &amp;</a:t>
            </a:r>
            <a:endParaRPr lang="en-US" sz="800" dirty="0"/>
          </a:p>
          <a:p>
            <a:pPr algn="ctr" indent="0" marL="0">
              <a:buNone/>
            </a:pPr>
            <a:r>
              <a:rPr lang="en-US" sz="800" i="1" dirty="0">
                <a:solidFill>
                  <a:srgbClr val="0D2240"/>
                </a:solidFill>
              </a:rPr>
              <a:t>What if I don't solve?</a:t>
            </a:r>
            <a:endParaRPr lang="en-US" sz="800" dirty="0"/>
          </a:p>
        </p:txBody>
      </p:sp>
      <p:sp>
        <p:nvSpPr>
          <p:cNvPr id="17" name="Shape 15"/>
          <p:cNvSpPr/>
          <p:nvPr/>
        </p:nvSpPr>
        <p:spPr>
          <a:xfrm>
            <a:off x="320040" y="3493008"/>
            <a:ext cx="1417320" cy="411480"/>
          </a:xfrm>
          <a:prstGeom prst="rect">
            <a:avLst/>
          </a:prstGeom>
          <a:solidFill>
            <a:srgbClr val="0D2240"/>
          </a:solidFill>
          <a:ln w="12700">
            <a:solidFill>
              <a:srgbClr val="0D2240"/>
            </a:solidFill>
            <a:prstDash val="solid"/>
          </a:ln>
        </p:spPr>
      </p:sp>
      <p:sp>
        <p:nvSpPr>
          <p:cNvPr id="18" name="Text 16"/>
          <p:cNvSpPr/>
          <p:nvPr/>
        </p:nvSpPr>
        <p:spPr>
          <a:xfrm>
            <a:off x="320040" y="3493008"/>
            <a:ext cx="1417320" cy="411480"/>
          </a:xfrm>
          <a:prstGeom prst="rect">
            <a:avLst/>
          </a:prstGeom>
          <a:noFill/>
          <a:ln/>
        </p:spPr>
        <p:txBody>
          <a:bodyPr wrap="square" lIns="0" tIns="0" rIns="0" bIns="0" rtlCol="0" anchor="ctr"/>
          <a:lstStyle/>
          <a:p>
            <a:pPr algn="ctr" indent="0" marL="0">
              <a:buNone/>
            </a:pPr>
            <a:r>
              <a:rPr lang="en-US" sz="1300" b="1" dirty="0">
                <a:solidFill>
                  <a:srgbClr val="FFFFFF"/>
                </a:solidFill>
              </a:rPr>
              <a:t>Timelines</a:t>
            </a:r>
            <a:endParaRPr lang="en-US" sz="1300" dirty="0"/>
          </a:p>
        </p:txBody>
      </p:sp>
      <p:sp>
        <p:nvSpPr>
          <p:cNvPr id="19" name="Text 17"/>
          <p:cNvSpPr/>
          <p:nvPr/>
        </p:nvSpPr>
        <p:spPr>
          <a:xfrm>
            <a:off x="246888" y="3931920"/>
            <a:ext cx="1572768" cy="274320"/>
          </a:xfrm>
          <a:prstGeom prst="rect">
            <a:avLst/>
          </a:prstGeom>
          <a:noFill/>
          <a:ln/>
        </p:spPr>
        <p:txBody>
          <a:bodyPr wrap="square" lIns="0" tIns="0" rIns="0" bIns="0" rtlCol="0" anchor="ctr"/>
          <a:lstStyle/>
          <a:p>
            <a:pPr algn="ctr" indent="0" marL="0">
              <a:buNone/>
            </a:pPr>
            <a:r>
              <a:rPr lang="en-US" sz="800" i="1" dirty="0">
                <a:solidFill>
                  <a:srgbClr val="0D2240"/>
                </a:solidFill>
              </a:rPr>
              <a:t>Time to realize benefits</a:t>
            </a:r>
            <a:endParaRPr lang="en-US" sz="800" dirty="0"/>
          </a:p>
        </p:txBody>
      </p:sp>
      <p:sp>
        <p:nvSpPr>
          <p:cNvPr id="20" name="Shape 18"/>
          <p:cNvSpPr/>
          <p:nvPr/>
        </p:nvSpPr>
        <p:spPr>
          <a:xfrm>
            <a:off x="1938528" y="3465576"/>
            <a:ext cx="6885432" cy="1005840"/>
          </a:xfrm>
          <a:prstGeom prst="rect">
            <a:avLst/>
          </a:prstGeom>
          <a:solidFill>
            <a:srgbClr val="E8E8E8"/>
          </a:solidFill>
          <a:ln w="12700">
            <a:solidFill>
              <a:srgbClr val="E8E8E8"/>
            </a:solidFill>
            <a:prstDash val="solid"/>
          </a:ln>
        </p:spPr>
      </p:sp>
      <p:sp>
        <p:nvSpPr>
          <p:cNvPr id="21" name="Text 19"/>
          <p:cNvSpPr/>
          <p:nvPr/>
        </p:nvSpPr>
        <p:spPr>
          <a:xfrm>
            <a:off x="1975104" y="3493008"/>
            <a:ext cx="6812280" cy="950976"/>
          </a:xfrm>
          <a:prstGeom prst="rect">
            <a:avLst/>
          </a:prstGeom>
          <a:noFill/>
          <a:ln/>
        </p:spPr>
        <p:txBody>
          <a:bodyPr wrap="square" lIns="63500" tIns="63500" rIns="63500" bIns="63500" rtlCol="0" anchor="t"/>
          <a:lstStyle/>
          <a:p>
            <a:pPr indent="0" marL="0">
              <a:buNone/>
            </a:pPr>
            <a:r>
              <a:rPr lang="en-US" sz="950" b="1" dirty="0">
                <a:solidFill>
                  <a:srgbClr val="1A1A2E"/>
                </a:solidFill>
              </a:rPr>
              <a:t>Prototype / Hackathon MVP: </a:t>
            </a:r>
            <a:pPr indent="0" marL="0">
              <a:buNone/>
            </a:pPr>
            <a:r>
              <a:rPr lang="en-US" sz="950" dirty="0">
                <a:solidFill>
                  <a:srgbClr val="1A1A2E"/>
                </a:solidFill>
              </a:rPr>
              <a:t>1–2 days.  </a:t>
            </a:r>
            <a:pPr indent="0" marL="0">
              <a:buNone/>
            </a:pPr>
            <a:r>
              <a:rPr lang="en-US" sz="950" b="1" dirty="0">
                <a:solidFill>
                  <a:srgbClr val="1A1A2E"/>
                </a:solidFill>
              </a:rPr>
              <a:t>Pilot Deployment: </a:t>
            </a:r>
            <a:pPr indent="0" marL="0">
              <a:buNone/>
            </a:pPr>
            <a:r>
              <a:rPr lang="en-US" sz="950" dirty="0">
                <a:solidFill>
                  <a:srgbClr val="1A1A2E"/>
                </a:solidFill>
              </a:rPr>
              <a:t>3–6 months (real factory IoT &amp; sensor integration).  </a:t>
            </a:r>
            <a:pPr indent="0" marL="0">
              <a:buNone/>
            </a:pPr>
            <a:r>
              <a:rPr lang="en-US" sz="950" b="1" dirty="0">
                <a:solidFill>
                  <a:srgbClr val="1A1A2E"/>
                </a:solidFill>
              </a:rPr>
              <a:t>Full-Scale Deployment: </a:t>
            </a:r>
            <a:pPr indent="0" marL="0">
              <a:buNone/>
            </a:pPr>
            <a:r>
              <a:rPr lang="en-US" sz="950" dirty="0">
                <a:solidFill>
                  <a:srgbClr val="1A1A2E"/>
                </a:solidFill>
              </a:rPr>
              <a:t>6–12 months.
</a:t>
            </a:r>
            <a:endParaRPr lang="en-US" sz="950" dirty="0"/>
          </a:p>
          <a:p>
            <a:pPr indent="0" marL="0">
              <a:buNone/>
            </a:pPr>
            <a:r>
              <a:rPr lang="en-US" sz="950" b="1" dirty="0">
                <a:solidFill>
                  <a:srgbClr val="1A1A2E"/>
                </a:solidFill>
              </a:rPr>
              <a:t>Time to Realize Benefits: </a:t>
            </a:r>
            <a:pPr indent="0" marL="0">
              <a:buNone/>
            </a:pPr>
            <a:r>
              <a:rPr lang="en-US" sz="950" dirty="0">
                <a:solidFill>
                  <a:srgbClr val="1A1A2E"/>
                </a:solidFill>
              </a:rPr>
              <a:t>Immediate real-time insights from Day 1; measurable ROI (downtime reduction, energy savings) within first 3 months of pilot; full ROI realization within 6–12 months of scaled deployment.</a:t>
            </a:r>
            <a:endParaRPr lang="en-US" sz="950" dirty="0"/>
          </a:p>
        </p:txBody>
      </p:sp>
      <p:sp>
        <p:nvSpPr>
          <p:cNvPr id="22" name="Text 20"/>
          <p:cNvSpPr/>
          <p:nvPr/>
        </p:nvSpPr>
        <p:spPr>
          <a:xfrm>
            <a:off x="91440" y="4974336"/>
            <a:ext cx="274320" cy="146304"/>
          </a:xfrm>
          <a:prstGeom prst="rect">
            <a:avLst/>
          </a:prstGeom>
          <a:noFill/>
          <a:ln/>
        </p:spPr>
        <p:txBody>
          <a:bodyPr wrap="square" rtlCol="0" anchor="ctr"/>
          <a:lstStyle/>
          <a:p>
            <a:pPr indent="0" marL="0">
              <a:buNone/>
            </a:pPr>
            <a:r>
              <a:rPr lang="en-US" sz="800" dirty="0">
                <a:solidFill>
                  <a:srgbClr val="888888"/>
                </a:solidFill>
              </a:rPr>
              <a:t>8</a:t>
            </a:r>
            <a:endParaRPr lang="en-US" sz="800" dirty="0"/>
          </a:p>
        </p:txBody>
      </p:sp>
      <p:sp>
        <p:nvSpPr>
          <p:cNvPr id="23" name="Text 21"/>
          <p:cNvSpPr/>
          <p:nvPr/>
        </p:nvSpPr>
        <p:spPr>
          <a:xfrm>
            <a:off x="2286000" y="4974336"/>
            <a:ext cx="4572000" cy="146304"/>
          </a:xfrm>
          <a:prstGeom prst="rect">
            <a:avLst/>
          </a:prstGeom>
          <a:noFill/>
          <a:ln/>
        </p:spPr>
        <p:txBody>
          <a:bodyPr wrap="square" rtlCol="0" anchor="ctr"/>
          <a:lstStyle/>
          <a:p>
            <a:pPr algn="ctr" indent="0" marL="0">
              <a:buNone/>
            </a:pPr>
            <a:r>
              <a:rPr lang="en-US" sz="800" dirty="0">
                <a:solidFill>
                  <a:srgbClr val="888888"/>
                </a:solidFill>
              </a:rPr>
              <a:t>© 2026–2027 Cognizant | Private</a:t>
            </a:r>
            <a:endParaRPr lang="en-US" sz="800" dirty="0"/>
          </a:p>
        </p:txBody>
      </p:sp>
      <p:sp>
        <p:nvSpPr>
          <p:cNvPr id="24" name="Shape 22"/>
          <p:cNvSpPr/>
          <p:nvPr/>
        </p:nvSpPr>
        <p:spPr>
          <a:xfrm>
            <a:off x="7726680" y="4910328"/>
            <a:ext cx="1325880" cy="228600"/>
          </a:xfrm>
          <a:prstGeom prst="rect">
            <a:avLst/>
          </a:prstGeom>
          <a:solidFill>
            <a:srgbClr val="0066CC"/>
          </a:solidFill>
          <a:ln w="12700">
            <a:solidFill>
              <a:srgbClr val="0066CC"/>
            </a:solidFill>
            <a:prstDash val="solid"/>
          </a:ln>
        </p:spPr>
      </p:sp>
      <p:sp>
        <p:nvSpPr>
          <p:cNvPr id="25" name="Text 23"/>
          <p:cNvSpPr/>
          <p:nvPr/>
        </p:nvSpPr>
        <p:spPr>
          <a:xfrm>
            <a:off x="7726680" y="4910328"/>
            <a:ext cx="1325880" cy="228600"/>
          </a:xfrm>
          <a:prstGeom prst="rect">
            <a:avLst/>
          </a:prstGeom>
          <a:noFill/>
          <a:ln/>
        </p:spPr>
        <p:txBody>
          <a:bodyPr wrap="square" lIns="0" tIns="0" rIns="0" bIns="0" rtlCol="0" anchor="ctr"/>
          <a:lstStyle/>
          <a:p>
            <a:pPr algn="ctr" indent="0" marL="0">
              <a:buNone/>
            </a:pPr>
            <a:r>
              <a:rPr lang="en-US" sz="900" b="1" dirty="0">
                <a:solidFill>
                  <a:srgbClr val="FFFFFF"/>
                </a:solidFill>
              </a:rPr>
              <a:t>cognizant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Plan</dc:title>
  <dc:subject>PptxGenJS Presentation</dc:subject>
  <dc:creator>PptxGenJS</dc:creator>
  <cp:lastModifiedBy>PptxGenJS</cp:lastModifiedBy>
  <cp:revision>1</cp:revision>
  <dcterms:created xsi:type="dcterms:W3CDTF">2026-04-11T04:10:59Z</dcterms:created>
  <dcterms:modified xsi:type="dcterms:W3CDTF">2026-04-11T04:10:59Z</dcterms:modified>
</cp:coreProperties>
</file>